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Ownership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6E9E"/>
              </a:solidFill>
              <a:effectLst/>
            </c:spPr>
          </c:dPt>
          <c:dPt>
            <c:idx val="1"/>
            <c:bubble3D val="0"/>
            <c:spPr>
              <a:solidFill>
                <a:srgbClr val="4FA3A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National chain (control)</c:v>
                </c:pt>
                <c:pt idx="1">
                  <c:v>Physician + partners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63</c:v>
                </c:pt>
                <c:pt idx="1">
                  <c:v>37</c:v>
                </c:pt>
              </c:numCache>
            </c:numRef>
          </c:val>
        </c:ser>
        <c:firstSliceAng val="0"/>
        <c:holeSize val="56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572000" cy="4572000"/>
          </a:xfrm>
          <a:prstGeom prst="ellipse">
            <a:avLst/>
          </a:prstGeom>
          <a:solidFill>
            <a:srgbClr val="2E6E9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743200" cy="2743200"/>
          </a:xfrm>
          <a:prstGeom prst="ellipse">
            <a:avLst/>
          </a:prstGeom>
          <a:solidFill>
            <a:srgbClr val="4FA3A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40080"/>
            <a:ext cx="868680" cy="868680"/>
          </a:xfrm>
          <a:prstGeom prst="ellipse">
            <a:avLst/>
          </a:prstGeom>
          <a:solidFill>
            <a:srgbClr val="2E6E9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7" y="865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7132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KIDNEY CARE PARTNERSHIP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With a National Provider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Own a Slice, Skip the Heavy Lifting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" y="406908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DaVita / Fresenius joint-venture route: lower capital, turnkey operations, physician equity — for when speed and de-risking matter more than full control.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Nephrologist / practice name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demand is proven. The question is how to capture it.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30168" cy="2286000"/>
          </a:xfrm>
          <a:prstGeom prst="roundRect">
            <a:avLst>
              <a:gd name="adj" fmla="val 4000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4×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96112" y="301752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kidney-failure rate for Black Americans vs. white Americans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71416" y="1828800"/>
            <a:ext cx="3630168" cy="2286000"/>
          </a:xfrm>
          <a:prstGeom prst="roundRect">
            <a:avLst>
              <a:gd name="adj" fmla="val 4000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0016" y="2057400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F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&gt;35%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27448" y="301752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dialysis patients are Black (≈13.5% of the population)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02752" y="1828800"/>
            <a:ext cx="3630168" cy="2286000"/>
          </a:xfrm>
          <a:prstGeom prst="roundRect">
            <a:avLst>
              <a:gd name="adj" fmla="val 4000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31352" y="2057400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~77%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558784" y="301752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Detroit is Black — a large, concentrated patient 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isn't demand or real estate — it's getting a center stood up and run well. A national-provider JV removes most of that friction.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USRDS 2025; National Kidney Foundation; U.S. Census.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national-provider JV brings to the table.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48840"/>
            <a:ext cx="777240" cy="777240"/>
          </a:xfrm>
          <a:prstGeom prst="ellipse">
            <a:avLst/>
          </a:prstGeom>
          <a:solidFill>
            <a:srgbClr val="EDF3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70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Co-investment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co-funds the build-out, lowering the capital you and your partners put at risk.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02152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94760" y="2148840"/>
            <a:ext cx="777240" cy="777240"/>
          </a:xfrm>
          <a:prstGeom prst="ellipse">
            <a:avLst/>
          </a:prstGeom>
          <a:solidFill>
            <a:srgbClr val="EDF3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842" y="23509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leverage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776472" y="35204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national supply contracts and equipment pricing no independent can match.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64224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56832" y="2148840"/>
            <a:ext cx="777240" cy="777240"/>
          </a:xfrm>
          <a:prstGeom prst="ellipse">
            <a:avLst/>
          </a:prstGeom>
          <a:solidFill>
            <a:srgbClr val="EDF3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914" y="235092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8544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platform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638544" y="35204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compliance, EHR, and back-office systems refined over decades — running day one.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226296" y="18288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18904" y="2148840"/>
            <a:ext cx="777240" cy="777240"/>
          </a:xfrm>
          <a:prstGeom prst="ellipse">
            <a:avLst/>
          </a:prstGeom>
          <a:solidFill>
            <a:srgbClr val="EDF3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986" y="235092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0616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brand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500616" y="35204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established network, payer relationships, and a name patients and hospitals recognize.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DaVita and Fresenius run essentially this same JV playbook — the model below applies to either.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657600" cy="3657600"/>
          </a:xfrm>
          <a:prstGeom prst="ellipse">
            <a:avLst/>
          </a:prstGeom>
          <a:solidFill>
            <a:srgbClr val="2E6E9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PHYSICIAN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upside, without carrying the business.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630168" cy="3383280"/>
          </a:xfrm>
          <a:prstGeom prst="roundRect">
            <a:avLst>
              <a:gd name="adj" fmla="val 2703"/>
            </a:avLst>
          </a:prstGeom>
          <a:solidFill>
            <a:srgbClr val="1E3550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2E6E9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4542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004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participation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60120" y="3730752"/>
            <a:ext cx="2990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revenue stream tied to the center's profitability — not just fee-for-service patient visits.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71416" y="1920240"/>
            <a:ext cx="3630168" cy="3383280"/>
          </a:xfrm>
          <a:prstGeom prst="roundRect">
            <a:avLst>
              <a:gd name="adj" fmla="val 2703"/>
            </a:avLst>
          </a:prstGeom>
          <a:solidFill>
            <a:srgbClr val="1E3550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240280"/>
            <a:ext cx="822960" cy="822960"/>
          </a:xfrm>
          <a:prstGeom prst="ellipse">
            <a:avLst/>
          </a:prstGeom>
          <a:solidFill>
            <a:srgbClr val="2E6E9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426" y="24542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91456" y="32004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De-risked entry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4791456" y="3730752"/>
            <a:ext cx="2990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absorbs operational and much of the financial risk; you're not betting the practice.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302752" y="1920240"/>
            <a:ext cx="3630168" cy="3383280"/>
          </a:xfrm>
          <a:prstGeom prst="roundRect">
            <a:avLst>
              <a:gd name="adj" fmla="val 2703"/>
            </a:avLst>
          </a:prstGeom>
          <a:solidFill>
            <a:srgbClr val="1E3550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22792" y="2240280"/>
            <a:ext cx="822960" cy="822960"/>
          </a:xfrm>
          <a:prstGeom prst="ellipse">
            <a:avLst/>
          </a:prstGeom>
          <a:solidFill>
            <a:srgbClr val="2E6E9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62" y="245425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22792" y="32004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on patients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8622792" y="3730752"/>
            <a:ext cx="2990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support frees your time for clinical care while you stay the Medical Director.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the chains favor the JV: with skin in the game, the physician partner is invested in the center's success.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bring the capital and an operator — so you don't.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D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3911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241194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4767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partner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874520" y="235000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fund the physician-side equity contribution and structure the entity, so the capital ask on you is minimal.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172968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DF3F7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4290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36310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33756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operator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874520" y="3739896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experienced dialysis clinician — community-rooted, MWBE-eligible — to manage scheduling, staffing, and the floor inside the JV.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562856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DF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81888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5020970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72744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credibility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874520" y="512978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who reflects the patient base drives the trust and retention that protect both outcomes and the center's economics.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inside a chain JV the operator runs the floor but within the chain's systems — real influence, not full autonomy.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ownership and money actually work.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4297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69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chains typically hold 51–75%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303520" y="1783080"/>
            <a:ext cx="6217920" cy="1280160"/>
          </a:xfrm>
          <a:prstGeom prst="roundRect">
            <a:avLst>
              <a:gd name="adj" fmla="val 5714"/>
            </a:avLst>
          </a:prstGeom>
          <a:solidFill>
            <a:srgbClr val="EDF3F7"/>
          </a:solidFill>
          <a:ln/>
        </p:spPr>
      </p:sp>
      <p:sp>
        <p:nvSpPr>
          <p:cNvPr id="7" name="Shape 4"/>
          <p:cNvSpPr/>
          <p:nvPr/>
        </p:nvSpPr>
        <p:spPr>
          <a:xfrm>
            <a:off x="5532120" y="203911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202" y="2241194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960" y="192938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vs. minority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537960" y="23317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holds the majority (typically 51–75%); physician partners hold the minority. Profits split by ownership percentage.</a:t>
            </a:r>
            <a:endParaRPr lang="en-US" sz="1280" dirty="0"/>
          </a:p>
        </p:txBody>
      </p:sp>
      <p:sp>
        <p:nvSpPr>
          <p:cNvPr id="11" name="Shape 7"/>
          <p:cNvSpPr/>
          <p:nvPr/>
        </p:nvSpPr>
        <p:spPr>
          <a:xfrm>
            <a:off x="5303520" y="3172968"/>
            <a:ext cx="6217920" cy="1280160"/>
          </a:xfrm>
          <a:prstGeom prst="roundRect">
            <a:avLst>
              <a:gd name="adj" fmla="val 5714"/>
            </a:avLst>
          </a:prstGeom>
          <a:solidFill>
            <a:srgbClr val="EDF3F7"/>
          </a:solidFill>
          <a:ln/>
        </p:spPr>
      </p:sp>
      <p:sp>
        <p:nvSpPr>
          <p:cNvPr id="12" name="Shape 8"/>
          <p:cNvSpPr/>
          <p:nvPr/>
        </p:nvSpPr>
        <p:spPr>
          <a:xfrm>
            <a:off x="5532120" y="34290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202" y="363108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37960" y="33192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Steady, de-risked return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537960" y="372160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share of a professionally-run, scaled operation — lower variance than going it alone.</a:t>
            </a:r>
            <a:endParaRPr lang="en-US" sz="1280" dirty="0"/>
          </a:p>
        </p:txBody>
      </p:sp>
      <p:sp>
        <p:nvSpPr>
          <p:cNvPr id="16" name="Shape 11"/>
          <p:cNvSpPr/>
          <p:nvPr/>
        </p:nvSpPr>
        <p:spPr>
          <a:xfrm>
            <a:off x="5303520" y="4562856"/>
            <a:ext cx="6217920" cy="1280160"/>
          </a:xfrm>
          <a:prstGeom prst="roundRect">
            <a:avLst>
              <a:gd name="adj" fmla="val 5714"/>
            </a:avLst>
          </a:prstGeom>
          <a:solidFill>
            <a:srgbClr val="EDF3F7"/>
          </a:solidFill>
          <a:ln/>
        </p:spPr>
      </p:sp>
      <p:sp>
        <p:nvSpPr>
          <p:cNvPr id="17" name="Shape 12"/>
          <p:cNvSpPr/>
          <p:nvPr/>
        </p:nvSpPr>
        <p:spPr>
          <a:xfrm>
            <a:off x="5532120" y="481888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202" y="5020970"/>
            <a:ext cx="373075" cy="3730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3796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front doors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537960" y="5111496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DaVita and Fresenius both actively seek physician partners; either can be approached directly by the nephrologist.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give up for the safer path.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731520" cy="731520"/>
          </a:xfrm>
          <a:prstGeom prst="ellipse">
            <a:avLst/>
          </a:prstGeom>
          <a:solidFill>
            <a:srgbClr val="4FA3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76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gain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06324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capital at risk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operations &amp; supply pricing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path to opening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operational &amp; financial variance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established brand and payer relationships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6273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731520" cy="731520"/>
          </a:xfrm>
          <a:prstGeom prst="ellipse">
            <a:avLst/>
          </a:prstGeom>
          <a:solidFill>
            <a:srgbClr val="C46B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35" y="22475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76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give up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37960" y="306324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ownership &amp; control of the center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 — it's still corporate-managed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MWBE certification (needs majority ownership)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share of the upside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to fix the management model itself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goal is independence and fixing how a center is run, this route works against it. If the goal is exposure with less risk, it fits.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023360" cy="4023360"/>
          </a:xfrm>
          <a:prstGeom prst="ellipse">
            <a:avLst/>
          </a:prstGeom>
          <a:solidFill>
            <a:srgbClr val="2E6E9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280160"/>
            <a:ext cx="3108960" cy="3108960"/>
          </a:xfrm>
          <a:prstGeom prst="ellipse">
            <a:avLst/>
          </a:prstGeom>
          <a:solidFill>
            <a:srgbClr val="4FA3A0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turnkey route fits, here's the path.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E3550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86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on goals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speed &amp; de-risking outweigh control for you.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02152" y="21031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E3550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2286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776472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the chains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76472" y="3611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contact DaVita / Fresenius physician partnerships; we prep the case.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64224" y="21031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E3550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0256" y="2286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638544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&amp; counsel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8544" y="3611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the JV terms with healthcare counsel (Stark / AKS safe harbors).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26296" y="21031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E3550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82328" y="2286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500616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open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0616" y="3611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stands up operations; the operator runs the floor; ramp begins.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</a:t>
            </a:r>
            <a:pPr indent="0" marL="0">
              <a:buNone/>
            </a:pPr>
            <a:r>
              <a:rPr lang="en-US" sz="14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[ email ]   ·   [ phone 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2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legal or financial advice. Physician-ownership dialysis JVs must be structured under Stark Law / Anti-Kickback safe harbors with qualified counsel.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Turnkey Dialysis Joint Venture</dc:title>
  <dc:subject>PptxGenJS Presentation</dc:subject>
  <dc:creator>Pitch Builder</dc:creator>
  <cp:lastModifiedBy>Pitch Builder</cp:lastModifiedBy>
  <cp:revision>1</cp:revision>
  <dcterms:created xsi:type="dcterms:W3CDTF">2026-06-13T23:23:25Z</dcterms:created>
  <dcterms:modified xsi:type="dcterms:W3CDTF">2026-06-13T23:23:25Z</dcterms:modified>
</cp:coreProperties>
</file>