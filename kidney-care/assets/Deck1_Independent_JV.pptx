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bubble3D val="0"/>
            <c:spPr>
              <a:solidFill>
                <a:srgbClr val="E08A3C"/>
              </a:solidFill>
              <a:effectLst/>
            </c:spPr>
          </c:dPt>
          <c:dPt>
            <c:idx val="2"/>
            <c:bubble3D val="0"/>
            <c:spPr>
              <a:solidFill>
                <a:srgbClr val="0A5C6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Nephrologist</c:v>
                </c:pt>
                <c:pt idx="1">
                  <c:v>Operator</c:v>
                </c:pt>
                <c:pt idx="2">
                  <c:v>Investor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B3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572000" cy="457200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E08A3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KIDNEY CARE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Physician-Led Dialysis Center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Metro Detroit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13232" y="40690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proposal — independent ownership, community-rooted care, real clinical autonomy.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Nephrologist / practice name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Detroit has the patients. The care model is failing them.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4×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Black Americans are to reach kidney failure vs. white Americans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02152" y="178308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21488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&gt;35%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85032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dialysis patients are Black, despite being ~13.5% of the population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64224" y="178308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1488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~77%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547104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Detroit's population is Black — the exact group most affected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226296" y="178308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63456" y="21488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3×/wk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409176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in-center treatment for years — retention &amp; trust drive the economics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USRDS 2025 Annual Data Report; National Kidney Foundation; U.S. Census.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dialysis frustrates the people who keep it running.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Physicians lose control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9900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national chains run most centers. Medical directors carry the patients but get little say in how the floor is scheduled, staffed, or run.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71416" y="18288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148840"/>
            <a:ext cx="777240" cy="77724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538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0632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burn out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791456" y="3611880"/>
            <a:ext cx="29900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planning decisions are made far from the chair. Good clinicians leave — and patient continuity leaves with them.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02752" y="1828800"/>
            <a:ext cx="363016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22792" y="2148840"/>
            <a:ext cx="777240" cy="77724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874" y="23509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22792" y="30632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underserved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622792" y="3611880"/>
            <a:ext cx="29900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revolving door of staff and rigid corporate scheduling erodes the trust that keeps patients healthy and in their seats.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opening:  </a:t>
            </a:r>
            <a:pPr indent="0" marL="0">
              <a:buNone/>
            </a:pPr>
            <a:r>
              <a:rPr lang="en-US" sz="1600" i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center that fixes exactly what the chains get wrong.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840480" cy="384048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partners. One independent center.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630168" cy="3611880"/>
          </a:xfrm>
          <a:prstGeom prst="roundRect">
            <a:avLst>
              <a:gd name="adj" fmla="val 2532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4085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— the nephrologist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99008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patients and serve as Medical Director. Hold meaningful equity in an independent center — not a sliver of a national chain's LLC.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4471416" y="1874520"/>
            <a:ext cx="3630168" cy="3611880"/>
          </a:xfrm>
          <a:prstGeom prst="roundRect">
            <a:avLst>
              <a:gd name="adj" fmla="val 2532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194560"/>
            <a:ext cx="822960" cy="822960"/>
          </a:xfrm>
          <a:prstGeom prst="ellipse">
            <a:avLst/>
          </a:prstGeom>
          <a:solidFill>
            <a:srgbClr val="E08A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24085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3154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91456" y="3749040"/>
            <a:ext cx="299008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experienced dialysis clinician who runs the floor — scheduling, staffing, planning — the way it should be run, with skin in the game.</a:t>
            </a:r>
            <a:endParaRPr lang="en-US" sz="1380" dirty="0"/>
          </a:p>
        </p:txBody>
      </p:sp>
      <p:sp>
        <p:nvSpPr>
          <p:cNvPr id="15" name="Shape 11"/>
          <p:cNvSpPr/>
          <p:nvPr/>
        </p:nvSpPr>
        <p:spPr>
          <a:xfrm>
            <a:off x="8302752" y="1874520"/>
            <a:ext cx="3630168" cy="3611880"/>
          </a:xfrm>
          <a:prstGeom prst="roundRect">
            <a:avLst>
              <a:gd name="adj" fmla="val 2532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22792" y="2194560"/>
            <a:ext cx="822960" cy="822960"/>
          </a:xfrm>
          <a:prstGeom prst="ellipse">
            <a:avLst/>
          </a:prstGeom>
          <a:solidFill>
            <a:srgbClr val="0A5C6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62" y="24085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22792" y="3154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investor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22792" y="3749040"/>
            <a:ext cx="299008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build-out and working capital, structures the entity, and handles the business side so clinicians focus on care.</a:t>
            </a:r>
            <a:endParaRPr lang="en-US" sz="138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nephrologist is the unlock — referrals and the medical directorship anchor everything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community-rooted operator is a clinical and business edge.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13232" cy="713232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20" y="2014240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922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Concordant care lifts retention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21284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dialyze 3× a week for years. A center led by, and reflecting, the community it serves drives the trust, engagement, and retention that protect outcomes — and revenue.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713232" cy="713232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20" y="343156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0954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done right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6301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staffing, and floor planning run by someone who has lived the work — the specific failure point that pushes patients and staff out of corporate centers.</a:t>
            </a:r>
            <a:endParaRPr lang="en-US" sz="132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713232" cy="713232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" y="48488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6268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MWBE certification opens doors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504748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Black-woman-owned business can pursue Minority/Women Business Enterprise status — unlocking hospital supplier-diversity programs, payers, and health-equity funding.</a:t>
            </a:r>
            <a:endParaRPr lang="en-US" sz="1320" dirty="0"/>
          </a:p>
        </p:txBody>
      </p:sp>
      <p:sp>
        <p:nvSpPr>
          <p:cNvPr id="16" name="Shape 11"/>
          <p:cNvSpPr/>
          <p:nvPr/>
        </p:nvSpPr>
        <p:spPr>
          <a:xfrm>
            <a:off x="8229600" y="1828800"/>
            <a:ext cx="3291840" cy="4251960"/>
          </a:xfrm>
          <a:prstGeom prst="roundRect">
            <a:avLst>
              <a:gd name="adj" fmla="val 2778"/>
            </a:avLst>
          </a:prstGeom>
          <a:solidFill>
            <a:srgbClr val="0B2B3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49640" y="2148840"/>
            <a:ext cx="731520" cy="731520"/>
          </a:xfrm>
          <a:prstGeom prst="ellipse">
            <a:avLst/>
          </a:prstGeom>
          <a:solidFill>
            <a:srgbClr val="E08A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835" y="23390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96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strategic catch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49640" y="342900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MWBE status requires majority ownership and control by the operator. A DaVita or Fresenius JV — where the chain holds the majority — disqualifies it.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equity advantage is only fully usable in an independent center.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own real equity — not a minority slice of a chain.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15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split — set by the partners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212080" y="18288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EAF3F4"/>
          </a:solidFill>
          <a:ln/>
        </p:spPr>
      </p:sp>
      <p:sp>
        <p:nvSpPr>
          <p:cNvPr id="7" name="Shape 4"/>
          <p:cNvSpPr/>
          <p:nvPr/>
        </p:nvSpPr>
        <p:spPr>
          <a:xfrm>
            <a:off x="5440680" y="20756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875" y="2265883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975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autonomy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400800" y="234086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standard of care and the medical directorship sits with you — no corporate playbook overriding the floor.</a:t>
            </a:r>
            <a:endParaRPr lang="en-US" sz="1280" dirty="0"/>
          </a:p>
        </p:txBody>
      </p:sp>
      <p:sp>
        <p:nvSpPr>
          <p:cNvPr id="11" name="Shape 7"/>
          <p:cNvSpPr/>
          <p:nvPr/>
        </p:nvSpPr>
        <p:spPr>
          <a:xfrm>
            <a:off x="5212080" y="32004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EAF3F4"/>
          </a:solidFill>
          <a:ln/>
        </p:spPr>
      </p:sp>
      <p:sp>
        <p:nvSpPr>
          <p:cNvPr id="12" name="Shape 8"/>
          <p:cNvSpPr/>
          <p:nvPr/>
        </p:nvSpPr>
        <p:spPr>
          <a:xfrm>
            <a:off x="5440680" y="34472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75" y="3637483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3346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you shape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400800" y="371246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percentages, distributions, and decision rights are negotiated among three partners, not dictated by a national chain.</a:t>
            </a:r>
            <a:endParaRPr lang="en-US" sz="1280" dirty="0"/>
          </a:p>
        </p:txBody>
      </p:sp>
      <p:sp>
        <p:nvSpPr>
          <p:cNvPr id="16" name="Shape 11"/>
          <p:cNvSpPr/>
          <p:nvPr/>
        </p:nvSpPr>
        <p:spPr>
          <a:xfrm>
            <a:off x="5212080" y="45720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EAF3F4"/>
          </a:solidFill>
          <a:ln/>
        </p:spPr>
      </p:sp>
      <p:sp>
        <p:nvSpPr>
          <p:cNvPr id="17" name="Shape 12"/>
          <p:cNvSpPr/>
          <p:nvPr/>
        </p:nvSpPr>
        <p:spPr>
          <a:xfrm>
            <a:off x="5440680" y="48188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875" y="5009083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upside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400800" y="508406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Profits flow to the owners by their stake — not a thin minority share after the chain takes 51–75%.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margins — if you get payer mix and retention right.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annual receipts for an average U.S. dialysis clinic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cited industry-wide — rare in healthcare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P&amp;L: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pays a fixed bundled rate — same for everyone, thin on its 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made on commercially-insured patients — payer mix is everything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compounds: every patient kept is years of stable revenue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Home/peritoneal dialysis: lower-capital, CMS-favored growth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394960" cy="4069080"/>
          </a:xfrm>
          <a:prstGeom prst="roundRect">
            <a:avLst>
              <a:gd name="adj" fmla="val 2247"/>
            </a:avLst>
          </a:prstGeom>
          <a:solidFill>
            <a:srgbClr val="0B2B3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0312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715" y="2293315"/>
            <a:ext cx="351130" cy="351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6092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to stand one up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46520" y="30632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 + water-treatment system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stations &amp; medical equipment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Life-Safety-Code-compliant facility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+ working capital through ramp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certification &amp; legal structuring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5105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illustrative (industry averages, 2019 Marketdata). Build a real pro-forma with your payer mix before committing.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Michigan is a favorable place to do this.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640080" cy="64008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861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Certificate of Need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36118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many states, Michigan does not require a CON for a new dialysis facility — the single biggest barrier elsewhere is removed.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3502152" y="18745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30752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5239512" y="2103120"/>
            <a:ext cx="640080" cy="64008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933" y="22695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equip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758184" y="36118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construction, water treatment, and Life Safety compliance. The facility must be operational before certification.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6364224" y="18745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92824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8101584" y="2103120"/>
            <a:ext cx="640080" cy="64008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05" y="22695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20256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certification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620256" y="36118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license needed; you become Medicare-certified. LARA runs the survey for CMS; enroll via the MAC (Wisconsin Physician Services).</a:t>
            </a:r>
            <a:endParaRPr lang="en-US" sz="1230" dirty="0"/>
          </a:p>
        </p:txBody>
      </p:sp>
      <p:sp>
        <p:nvSpPr>
          <p:cNvPr id="22" name="Shape 17"/>
          <p:cNvSpPr/>
          <p:nvPr/>
        </p:nvSpPr>
        <p:spPr>
          <a:xfrm>
            <a:off x="9226296" y="18745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454896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Shape 19"/>
          <p:cNvSpPr/>
          <p:nvPr/>
        </p:nvSpPr>
        <p:spPr>
          <a:xfrm>
            <a:off x="10963656" y="2103120"/>
            <a:ext cx="640080" cy="640080"/>
          </a:xfrm>
          <a:prstGeom prst="ellipse">
            <a:avLst/>
          </a:prstGeom>
          <a:solidFill>
            <a:srgbClr val="EAF3F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0077" y="226954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82328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ramp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482328" y="36118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the nephrologist's patients, build payer mix, and grow toward home-dialysis offerings.</a:t>
            </a:r>
            <a:endParaRPr lang="en-US" sz="1230" dirty="0"/>
          </a:p>
        </p:txBody>
      </p:sp>
      <p:sp>
        <p:nvSpPr>
          <p:cNvPr id="28" name="Text 22"/>
          <p:cNvSpPr/>
          <p:nvPr/>
        </p:nvSpPr>
        <p:spPr>
          <a:xfrm>
            <a:off x="640080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Michigan LARA, ESRD provider guidance. Confirm current requirements with LARA + healthcare counsel.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291840" cy="3291840"/>
          </a:xfrm>
          <a:prstGeom prst="ellipse">
            <a:avLst/>
          </a:prstGeom>
          <a:solidFill>
            <a:srgbClr val="E08A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explore building it together.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37744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5557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32004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conversation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" y="361188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meeting to test fit, patient volume, and shared vision.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71416" y="210312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4024" y="2377440"/>
            <a:ext cx="685800" cy="685800"/>
          </a:xfrm>
          <a:prstGeom prst="ellipse">
            <a:avLst/>
          </a:prstGeom>
          <a:solidFill>
            <a:srgbClr val="E08A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25557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4024" y="32004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patient picture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64024" y="361188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on referral volume and payer mix you could anchor a center with.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02752" y="210312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1238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0" y="237744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68" y="25557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32004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feasibility pass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95360" y="361188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scope site, capital, and a real pro-forma with healthcare counsel.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pPr indent="0" marL="0">
              <a:buNone/>
            </a:pPr>
            <a:r>
              <a:rPr lang="en-US" sz="14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[ email ]   ·   [ phone ]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or financial advice. Physician-ownership dialysis JVs must be structured under Stark Law / Anti-Kickback safe harbors with qualified counsel.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Kidney Care Partnership</dc:title>
  <dc:subject>PptxGenJS Presentation</dc:subject>
  <dc:creator>Pitch Builder</dc:creator>
  <cp:lastModifiedBy>Pitch Builder</cp:lastModifiedBy>
  <cp:revision>1</cp:revision>
  <dcterms:created xsi:type="dcterms:W3CDTF">2026-06-13T23:23:25Z</dcterms:created>
  <dcterms:modified xsi:type="dcterms:W3CDTF">2026-06-13T23:23:25Z</dcterms:modified>
</cp:coreProperties>
</file>